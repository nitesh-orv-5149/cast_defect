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b694685-310a-354d-2058-965879fe3000}">
          <p14:sldIdLst>
            <p14:sldId id="256"/>
          </p14:sldIdLst>
        </p14:section>
        <p14:section name="Problem" id="{43625429-b6e1-5e9b-0dc0-e7750c614c69}">
          <p14:sldIdLst>
            <p14:sldId id="257"/>
          </p14:sldIdLst>
        </p14:section>
        <p14:section name="Data" id="{4fc6e71b-a9a0-cfda-9bd9-8eda6c783c4b}">
          <p14:sldIdLst>
            <p14:sldId id="258"/>
          </p14:sldIdLst>
        </p14:section>
        <p14:section name="How it is built" id="{bfc7c7a8-882d-9f84-5def-52ed86545170}">
          <p14:sldIdLst>
            <p14:sldId id="259"/>
          </p14:sldIdLst>
        </p14:section>
        <p14:section name="How it works" id="{f2037bcf-653c-7572-faab-1ae046d19242}">
          <p14:sldIdLst>
            <p14:sldId id="260"/>
          </p14:sldIdLst>
        </p14:section>
        <p14:section name="Results" id="{1190c88d-1873-d700-0d5f-151556789e76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Cast Defect Inspection, MTAI project by Team 4: Ganesh Bhavaraju, Kruthika, Naqiya and Nitesh. The app runs on a phone, detects defective castings, names the defect type and gives pre-written corrective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small and medium foundries inspect castings by eye. It is slow, inconsistent and unrecorded. Our objectives: on-device detection, quick setup for new parts, no false alarms on designed holes, defect type and location, and pre-written remedies with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data: the Kaggle impeller dataset photographed on the Pilot Technocast foundry inspection line; four Roboflow projects where those castings are annotated with defect boxes; SIFA sand-cast photos for good surfaces. We cropped every defect box into a close-up, merged class names into 8 classes and split by source photo. Synthetic renders of 5 CAD parts test the training-free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is a progressive web app. Models are trained offline in PyTorch and exported to ONNX; Vercel only serves static files. On the phone, ONNX Runtime Web runs the networks, our own cad.js engine handles CAD rendering and alignment in a Web Worker, IndexedDB stores parts, and a service worker makes it work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 1 uses trained networks: a close-up classifier that names 8 defect types and a whole-part classifier with Grad-CAM. Tab 2 learns a part from a few good photos with PatchCore-style patch comparison; the background and what shows through holes are ignored. Tab 3 compares the photo with the CAD model, so designed holes are never flagged and wrong parts are caught. Every reject shows pre-written causes and fixes and goes into the PDF report and CSV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99.7% on the Kaggle test set for the whole-part model, 90.4% type accuracy for the close-up model with 0.6% of defects missed, every detected CAD validation defect typed correctly, and 0.15 to 1 second per photo on a CPU. Weakest cases: hairline cracks and telling gas from shrinkage. Next steps: real foundry close-ups, a scale marker, and a fixed lighting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Visual Cast Defect Inspection  ·  MTAI Project  ·  Team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Visual Cast Defect Inspection  ·  MTAI Project  ·  Team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label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MTAI PROJECT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Visual Cast Defect Inspection</a:t>
            </a:r>
            <a:endParaRPr lang="en-US" sz="3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057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phone app that finds casting defects, names their type and tells the operator what to do</a:t>
            </a:r>
            <a:endParaRPr lang="en-US" sz="1500" dirty="0"/>
          </a:p>
        </p:txBody>
      </p:sp>
      <p:sp>
        <p:nvSpPr>
          <p:cNvPr id="5" name="Team label"/>
          <p:cNvSpPr txBox="1"/>
          <p:nvPr/>
        </p:nvSpPr>
        <p:spPr>
          <a:xfrm>
            <a:off x="5486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Team 4</a:t>
            </a:r>
            <a:endParaRPr lang="en-US" sz="1600" dirty="0"/>
          </a:p>
        </p:txBody>
      </p:sp>
      <p:sp>
        <p:nvSpPr>
          <p:cNvPr id="6" name="Member card 1"/>
          <p:cNvSpPr/>
          <p:nvPr/>
        </p:nvSpPr>
        <p:spPr>
          <a:xfrm>
            <a:off x="548640" y="324612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Member 1"/>
          <p:cNvSpPr txBox="1"/>
          <p:nvPr/>
        </p:nvSpPr>
        <p:spPr>
          <a:xfrm>
            <a:off x="68580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Ganesh Bhavaraju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114124024</a:t>
            </a:r>
            <a:endParaRPr lang="en-US" sz="1400" dirty="0"/>
          </a:p>
        </p:txBody>
      </p:sp>
      <p:sp>
        <p:nvSpPr>
          <p:cNvPr id="8" name="Member card 2"/>
          <p:cNvSpPr/>
          <p:nvPr/>
        </p:nvSpPr>
        <p:spPr>
          <a:xfrm>
            <a:off x="3108960" y="3246120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Member 2"/>
          <p:cNvSpPr txBox="1"/>
          <p:nvPr/>
        </p:nvSpPr>
        <p:spPr>
          <a:xfrm>
            <a:off x="3246120" y="3246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Kruthika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114124056</a:t>
            </a:r>
            <a:endParaRPr lang="en-US" sz="1400" dirty="0"/>
          </a:p>
        </p:txBody>
      </p:sp>
      <p:sp>
        <p:nvSpPr>
          <p:cNvPr id="10" name="Member card 3"/>
          <p:cNvSpPr/>
          <p:nvPr/>
        </p:nvSpPr>
        <p:spPr>
          <a:xfrm>
            <a:off x="548640" y="3904488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Member 3"/>
          <p:cNvSpPr txBox="1"/>
          <p:nvPr/>
        </p:nvSpPr>
        <p:spPr>
          <a:xfrm>
            <a:off x="685800" y="39044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Naqiya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114124064</a:t>
            </a:r>
            <a:endParaRPr lang="en-US" sz="1400" dirty="0"/>
          </a:p>
        </p:txBody>
      </p:sp>
      <p:sp>
        <p:nvSpPr>
          <p:cNvPr id="12" name="Member card 4"/>
          <p:cNvSpPr/>
          <p:nvPr/>
        </p:nvSpPr>
        <p:spPr>
          <a:xfrm>
            <a:off x="3108960" y="3904488"/>
            <a:ext cx="2377440" cy="548640"/>
          </a:xfrm>
          <a:prstGeom prst="roundRect">
            <a:avLst>
              <a:gd name="adj" fmla="val 13333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Member 4"/>
          <p:cNvSpPr txBox="1"/>
          <p:nvPr/>
        </p:nvSpPr>
        <p:spPr>
          <a:xfrm>
            <a:off x="3246120" y="39044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Nitesh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114124066</a:t>
            </a:r>
            <a:endParaRPr lang="en-US" sz="1400" dirty="0"/>
          </a:p>
        </p:txBody>
      </p:sp>
      <p:pic>
        <p:nvPicPr>
          <p:cNvPr id="14" name="Foundry photo" descr="Real defective pump impeller photographed on a foundry inspection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777240"/>
            <a:ext cx="2651760" cy="2651760"/>
          </a:xfrm>
          <a:prstGeom prst="rect">
            <a:avLst/>
          </a:prstGeom>
        </p:spPr>
      </p:pic>
      <p:sp>
        <p:nvSpPr>
          <p:cNvPr id="15" name="Photo caption"/>
          <p:cNvSpPr txBox="1"/>
          <p:nvPr/>
        </p:nvSpPr>
        <p:spPr>
          <a:xfrm>
            <a:off x="5989320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Real defective impeller from a foundry inspection line (Kaggle, Pilot Technocast)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Manual casting inspection is slow, inconsistent and leaves no record</a:t>
            </a:r>
            <a:endParaRPr lang="en-US" sz="2400" dirty="0"/>
          </a:p>
        </p:txBody>
      </p:sp>
      <p:sp>
        <p:nvSpPr>
          <p:cNvPr id="3" name="Slow and tiring circle"/>
          <p:cNvSpPr/>
          <p:nvPr/>
        </p:nvSpPr>
        <p:spPr>
          <a:xfrm>
            <a:off x="457200" y="11887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Slow and tiring icon" descr="Slow and ti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1330452"/>
            <a:ext cx="283464" cy="283464"/>
          </a:xfrm>
          <a:prstGeom prst="rect">
            <a:avLst/>
          </a:prstGeom>
        </p:spPr>
      </p:pic>
      <p:sp>
        <p:nvSpPr>
          <p:cNvPr id="5" name="Problem 1"/>
          <p:cNvSpPr txBox="1"/>
          <p:nvPr/>
        </p:nvSpPr>
        <p:spPr>
          <a:xfrm>
            <a:off x="1188720" y="11430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Slow and tiring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part checked by eye; accuracy drops over a shift</a:t>
            </a:r>
            <a:endParaRPr lang="en-US" sz="1600" dirty="0"/>
          </a:p>
        </p:txBody>
      </p:sp>
      <p:sp>
        <p:nvSpPr>
          <p:cNvPr id="6" name="Inconsistent circle"/>
          <p:cNvSpPr/>
          <p:nvPr/>
        </p:nvSpPr>
        <p:spPr>
          <a:xfrm>
            <a:off x="457200" y="21031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nconsistent icon" descr="Inconsist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" y="2244852"/>
            <a:ext cx="283464" cy="283464"/>
          </a:xfrm>
          <a:prstGeom prst="rect">
            <a:avLst/>
          </a:prstGeom>
        </p:spPr>
      </p:pic>
      <p:sp>
        <p:nvSpPr>
          <p:cNvPr id="8" name="Problem 2"/>
          <p:cNvSpPr txBox="1"/>
          <p:nvPr/>
        </p:nvSpPr>
        <p:spPr>
          <a:xfrm>
            <a:off x="1188720" y="2057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Inconsistent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inspectors grade the same part differently</a:t>
            </a:r>
            <a:endParaRPr lang="en-US" sz="1600" dirty="0"/>
          </a:p>
        </p:txBody>
      </p:sp>
      <p:sp>
        <p:nvSpPr>
          <p:cNvPr id="9" name="No record circle"/>
          <p:cNvSpPr/>
          <p:nvPr/>
        </p:nvSpPr>
        <p:spPr>
          <a:xfrm>
            <a:off x="457200" y="3017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No record icon" descr="No reco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3159252"/>
            <a:ext cx="283464" cy="283464"/>
          </a:xfrm>
          <a:prstGeom prst="rect">
            <a:avLst/>
          </a:prstGeom>
        </p:spPr>
      </p:pic>
      <p:sp>
        <p:nvSpPr>
          <p:cNvPr id="11" name="Problem 3"/>
          <p:cNvSpPr txBox="1"/>
          <p:nvPr/>
        </p:nvSpPr>
        <p:spPr>
          <a:xfrm>
            <a:off x="1188720" y="2971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record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Nobody can say later why a part was rejected</a:t>
            </a:r>
            <a:endParaRPr lang="en-US" sz="1600" dirty="0"/>
          </a:p>
        </p:txBody>
      </p:sp>
      <p:sp>
        <p:nvSpPr>
          <p:cNvPr id="12" name="Problem note"/>
          <p:cNvSpPr txBox="1"/>
          <p:nvPr/>
        </p:nvSpPr>
        <p:spPr>
          <a:xfrm>
            <a:off x="457200" y="3977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Commercial vision systems need camera rigs, GPUs and thousands of labelled defect images, out of reach for most small foundries.</a:t>
            </a:r>
            <a:endParaRPr lang="en-US" sz="1200" dirty="0"/>
          </a:p>
        </p:txBody>
      </p:sp>
      <p:sp>
        <p:nvSpPr>
          <p:cNvPr id="13" name="Goal card"/>
          <p:cNvSpPr/>
          <p:nvPr/>
        </p:nvSpPr>
        <p:spPr>
          <a:xfrm>
            <a:off x="4937760" y="1143000"/>
            <a:ext cx="374904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Goal title"/>
          <p:cNvSpPr txBox="1"/>
          <p:nvPr/>
        </p:nvSpPr>
        <p:spPr>
          <a:xfrm>
            <a:off x="51663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Our goal: inspection with only a phone</a:t>
            </a:r>
            <a:endParaRPr lang="en-US" sz="1600" dirty="0"/>
          </a:p>
        </p:txBody>
      </p:sp>
      <p:sp>
        <p:nvSpPr>
          <p:cNvPr id="15" name="Objectives"/>
          <p:cNvSpPr txBox="1"/>
          <p:nvPr/>
        </p:nvSpPr>
        <p:spPr>
          <a:xfrm>
            <a:off x="5166360" y="1737360"/>
            <a:ext cx="3383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Detect defects on the device, no server or GPU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Add new parts from a few good photos or a CAD file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Never flag designed holes; catch the wrong part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Name the defect type and show where it 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Give causes, fixes and a PDF / CSV record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Trained on real foundry images and labelled defects, tested on CAD renders</a:t>
            </a:r>
            <a:endParaRPr lang="en-US" sz="2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"/>
          <p:cNvSpPr txBox="1"/>
          <p:nvPr/>
        </p:nvSpPr>
        <p:spPr>
          <a:xfrm>
            <a:off x="594360" y="1216152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7,348</a:t>
            </a:r>
            <a:endParaRPr lang="en-US" sz="28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foundry inspection-line photos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Kaggle · Pilot Technocast, Rajkot</a:t>
            </a:r>
            <a:endParaRPr lang="en-US" sz="2800" dirty="0"/>
          </a:p>
        </p:txBody>
      </p:sp>
      <p:sp>
        <p:nvSpPr>
          <p:cNvPr id="5" name="Stat card 2"/>
          <p:cNvSpPr/>
          <p:nvPr/>
        </p:nvSpPr>
        <p:spPr>
          <a:xfrm>
            <a:off x="256032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 2"/>
          <p:cNvSpPr txBox="1"/>
          <p:nvPr/>
        </p:nvSpPr>
        <p:spPr>
          <a:xfrm>
            <a:off x="2697480" y="1216152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2,066</a:t>
            </a:r>
            <a:endParaRPr lang="en-US" sz="28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photos with labelled defects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4 Roboflow sets, 9,513 crops</a:t>
            </a:r>
            <a:endParaRPr lang="en-US" sz="2800" dirty="0"/>
          </a:p>
        </p:txBody>
      </p:sp>
      <p:sp>
        <p:nvSpPr>
          <p:cNvPr id="7" name="Stat card 3"/>
          <p:cNvSpPr/>
          <p:nvPr/>
        </p:nvSpPr>
        <p:spPr>
          <a:xfrm>
            <a:off x="466344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3"/>
          <p:cNvSpPr txBox="1"/>
          <p:nvPr/>
        </p:nvSpPr>
        <p:spPr>
          <a:xfrm>
            <a:off x="4800600" y="1216152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1,080</a:t>
            </a:r>
            <a:endParaRPr lang="en-US" sz="28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real sand-cast photos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Kaggle · SIFA</a:t>
            </a:r>
            <a:endParaRPr lang="en-US" sz="2800" dirty="0"/>
          </a:p>
        </p:txBody>
      </p:sp>
      <p:sp>
        <p:nvSpPr>
          <p:cNvPr id="9" name="Stat card 4"/>
          <p:cNvSpPr/>
          <p:nvPr/>
        </p:nvSpPr>
        <p:spPr>
          <a:xfrm>
            <a:off x="6766560" y="109728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4"/>
          <p:cNvSpPr txBox="1"/>
          <p:nvPr/>
        </p:nvSpPr>
        <p:spPr>
          <a:xfrm>
            <a:off x="6903720" y="1216152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649</a:t>
            </a:r>
            <a:endParaRPr lang="en-US" sz="28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CAD renders of 5 parts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good and defective, for testing</a:t>
            </a:r>
            <a:endParaRPr lang="en-US" sz="2800" dirty="0"/>
          </a:p>
        </p:txBody>
      </p:sp>
      <p:pic>
        <p:nvPicPr>
          <p:cNvPr id="11" name="Training crops" descr="Close-up training crops for gas, shrinkage, crack, misrun, flash and burr, mould or sand defect, scratch and good sur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14600"/>
            <a:ext cx="6583680" cy="1819656"/>
          </a:xfrm>
          <a:prstGeom prst="rect">
            <a:avLst/>
          </a:prstGeom>
        </p:spPr>
      </p:pic>
      <p:sp>
        <p:nvSpPr>
          <p:cNvPr id="12" name="Data notes"/>
          <p:cNvSpPr txBox="1"/>
          <p:nvPr/>
        </p:nvSpPr>
        <p:spPr>
          <a:xfrm>
            <a:off x="7223760" y="2514600"/>
            <a:ext cx="1463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Each labelled defect box became one close-up crop.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Split by source photo, so no photo is in both training and test.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Rejected: a 12-class Kaggle set that turned out to be painted-on shapes.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Everything runs on the phone: no GPU, no server, nothing uploaded</a:t>
            </a:r>
            <a:endParaRPr lang="en-US" sz="2400" dirty="0"/>
          </a:p>
        </p:txBody>
      </p:sp>
      <p:sp>
        <p:nvSpPr>
          <p:cNvPr id="3" name="Training box"/>
          <p:cNvSpPr/>
          <p:nvPr/>
        </p:nvSpPr>
        <p:spPr>
          <a:xfrm>
            <a:off x="457200" y="1234440"/>
            <a:ext cx="17373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raining"/>
          <p:cNvSpPr txBox="1"/>
          <p:nvPr/>
        </p:nvSpPr>
        <p:spPr>
          <a:xfrm>
            <a:off x="548640" y="12344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Offline 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PyTorch + timm on a CPU, exported to ONNX</a:t>
            </a:r>
            <a:endParaRPr lang="en-US" sz="1300" dirty="0"/>
          </a:p>
        </p:txBody>
      </p:sp>
      <p:sp>
        <p:nvSpPr>
          <p:cNvPr id="5" name="Hosting box"/>
          <p:cNvSpPr/>
          <p:nvPr/>
        </p:nvSpPr>
        <p:spPr>
          <a:xfrm>
            <a:off x="457200" y="2743200"/>
            <a:ext cx="17373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osting"/>
          <p:cNvSpPr txBox="1"/>
          <p:nvPr/>
        </p:nvSpPr>
        <p:spPr>
          <a:xfrm>
            <a:off x="548640" y="27432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Vercel hosting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static files over HTTPS, cached on the phone</a:t>
            </a:r>
            <a:endParaRPr lang="en-US" sz="1300" dirty="0"/>
          </a:p>
        </p:txBody>
      </p:sp>
      <p:sp>
        <p:nvSpPr>
          <p:cNvPr id="7" name="Arrow training to hosting"/>
          <p:cNvSpPr/>
          <p:nvPr/>
        </p:nvSpPr>
        <p:spPr>
          <a:xfrm>
            <a:off x="1325880" y="2194560"/>
            <a:ext cx="0" cy="5486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Arrow hosting to phone"/>
          <p:cNvSpPr/>
          <p:nvPr/>
        </p:nvSpPr>
        <p:spPr>
          <a:xfrm>
            <a:off x="2194560" y="3218688"/>
            <a:ext cx="36576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Phone container"/>
          <p:cNvSpPr/>
          <p:nvPr/>
        </p:nvSpPr>
        <p:spPr>
          <a:xfrm>
            <a:off x="2560320" y="1097280"/>
            <a:ext cx="612648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hone label"/>
          <p:cNvSpPr txBox="1"/>
          <p:nvPr/>
        </p:nvSpPr>
        <p:spPr>
          <a:xfrm>
            <a:off x="2743200" y="11887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Phone browser  ·  installable web app  ·  works offline</a:t>
            </a:r>
            <a:endParaRPr lang="en-US" sz="1300" dirty="0"/>
          </a:p>
        </p:txBody>
      </p:sp>
      <p:sp>
        <p:nvSpPr>
          <p:cNvPr id="11" name="Interface box"/>
          <p:cNvSpPr/>
          <p:nvPr/>
        </p:nvSpPr>
        <p:spPr>
          <a:xfrm>
            <a:off x="2743200" y="1600200"/>
            <a:ext cx="57607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nterface"/>
          <p:cNvSpPr txBox="1"/>
          <p:nvPr/>
        </p:nvSpPr>
        <p:spPr>
          <a:xfrm>
            <a:off x="2834640" y="16002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Camera and interface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 tabs · verdict · heat map or CAD overlay · remedies · history</a:t>
            </a:r>
            <a:endParaRPr lang="en-US" sz="1300" dirty="0"/>
          </a:p>
        </p:txBody>
      </p:sp>
      <p:sp>
        <p:nvSpPr>
          <p:cNvPr id="13" name="Engine base box"/>
          <p:cNvSpPr/>
          <p:nvPr/>
        </p:nvSpPr>
        <p:spPr>
          <a:xfrm>
            <a:off x="2743200" y="233172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ngine base"/>
          <p:cNvSpPr txBox="1"/>
          <p:nvPr/>
        </p:nvSpPr>
        <p:spPr>
          <a:xfrm>
            <a:off x="2834640" y="2331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Base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MobileNetV2 + EfficientNet-B0 in ONNX Runtime Web</a:t>
            </a:r>
            <a:endParaRPr lang="en-US" sz="1300" dirty="0"/>
          </a:p>
        </p:txBody>
      </p:sp>
      <p:sp>
        <p:nvSpPr>
          <p:cNvPr id="15" name="Engine reference box"/>
          <p:cNvSpPr/>
          <p:nvPr/>
        </p:nvSpPr>
        <p:spPr>
          <a:xfrm>
            <a:off x="4709160" y="233172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ngine reference"/>
          <p:cNvSpPr txBox="1"/>
          <p:nvPr/>
        </p:nvSpPr>
        <p:spPr>
          <a:xfrm>
            <a:off x="4800600" y="2331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Reference images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ResNet18 patch features + part mask</a:t>
            </a:r>
            <a:endParaRPr lang="en-US" sz="1300" dirty="0"/>
          </a:p>
        </p:txBody>
      </p:sp>
      <p:sp>
        <p:nvSpPr>
          <p:cNvPr id="17" name="Engine CAD box"/>
          <p:cNvSpPr/>
          <p:nvPr/>
        </p:nvSpPr>
        <p:spPr>
          <a:xfrm>
            <a:off x="6675120" y="2331720"/>
            <a:ext cx="182880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ngine CAD"/>
          <p:cNvSpPr txBox="1"/>
          <p:nvPr/>
        </p:nvSpPr>
        <p:spPr>
          <a:xfrm>
            <a:off x="6766560" y="2331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Reference CAD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cad.js geometry engine in a Web Worker</a:t>
            </a:r>
            <a:endParaRPr lang="en-US" sz="1300" dirty="0"/>
          </a:p>
        </p:txBody>
      </p:sp>
      <p:sp>
        <p:nvSpPr>
          <p:cNvPr id="19" name="Storage box"/>
          <p:cNvSpPr/>
          <p:nvPr/>
        </p:nvSpPr>
        <p:spPr>
          <a:xfrm>
            <a:off x="2743200" y="3611880"/>
            <a:ext cx="576072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orage"/>
          <p:cNvSpPr txBox="1"/>
          <p:nvPr/>
        </p:nvSpPr>
        <p:spPr>
          <a:xfrm>
            <a:off x="2834640" y="36118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On the device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IndexedDB for saved parts · service worker for offline · PDF report and CSV log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Three ways to inspect, each naming the defect and the fix</a:t>
            </a:r>
            <a:endParaRPr lang="en-US" sz="2400" dirty="0"/>
          </a:p>
        </p:txBody>
      </p:sp>
      <p:sp>
        <p:nvSpPr>
          <p:cNvPr id="3" name="Tab card 1"/>
          <p:cNvSpPr/>
          <p:nvPr/>
        </p:nvSpPr>
        <p:spPr>
          <a:xfrm>
            <a:off x="457200" y="10972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se model circle"/>
          <p:cNvSpPr/>
          <p:nvPr/>
        </p:nvSpPr>
        <p:spPr>
          <a:xfrm>
            <a:off x="594360" y="12161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Base model icon" descr="Base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330452"/>
            <a:ext cx="228600" cy="228600"/>
          </a:xfrm>
          <a:prstGeom prst="rect">
            <a:avLst/>
          </a:prstGeom>
        </p:spPr>
      </p:pic>
      <p:sp>
        <p:nvSpPr>
          <p:cNvPr id="6" name="Tab name 1"/>
          <p:cNvSpPr txBox="1"/>
          <p:nvPr/>
        </p:nvSpPr>
        <p:spPr>
          <a:xfrm>
            <a:off x="1143000" y="1216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Base model</a:t>
            </a:r>
            <a:endParaRPr lang="en-US" sz="1500" dirty="0"/>
          </a:p>
        </p:txBody>
      </p:sp>
      <p:sp>
        <p:nvSpPr>
          <p:cNvPr id="7" name="Tab text 1"/>
          <p:cNvSpPr txBox="1"/>
          <p:nvPr/>
        </p:nvSpPr>
        <p:spPr>
          <a:xfrm>
            <a:off x="59436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Close-up photo → 8 defect types (EfficientNet-B0). Whole part → defect / OK with Grad-CAM.</a:t>
            </a:r>
            <a:endParaRPr lang="en-US" sz="1150" dirty="0"/>
          </a:p>
        </p:txBody>
      </p:sp>
      <p:sp>
        <p:nvSpPr>
          <p:cNvPr id="8" name="Tab card 2"/>
          <p:cNvSpPr/>
          <p:nvPr/>
        </p:nvSpPr>
        <p:spPr>
          <a:xfrm>
            <a:off x="3246120" y="10972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ference images circle"/>
          <p:cNvSpPr/>
          <p:nvPr/>
        </p:nvSpPr>
        <p:spPr>
          <a:xfrm>
            <a:off x="3383280" y="12161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Reference images icon" descr="Reference imag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330452"/>
            <a:ext cx="228600" cy="228600"/>
          </a:xfrm>
          <a:prstGeom prst="rect">
            <a:avLst/>
          </a:prstGeom>
        </p:spPr>
      </p:pic>
      <p:sp>
        <p:nvSpPr>
          <p:cNvPr id="11" name="Tab name 2"/>
          <p:cNvSpPr txBox="1"/>
          <p:nvPr/>
        </p:nvSpPr>
        <p:spPr>
          <a:xfrm>
            <a:off x="3931920" y="1216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Reference images</a:t>
            </a:r>
            <a:endParaRPr lang="en-US" sz="1500" dirty="0"/>
          </a:p>
        </p:txBody>
      </p:sp>
      <p:sp>
        <p:nvSpPr>
          <p:cNvPr id="12" name="Tab text 2"/>
          <p:cNvSpPr txBox="1"/>
          <p:nvPr/>
        </p:nvSpPr>
        <p:spPr>
          <a:xfrm>
            <a:off x="338328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Learns from 1 to 20 good parts. Patch comparison, background ignored, type read against the best good photo.</a:t>
            </a:r>
            <a:endParaRPr lang="en-US" sz="1150" dirty="0"/>
          </a:p>
        </p:txBody>
      </p:sp>
      <p:sp>
        <p:nvSpPr>
          <p:cNvPr id="13" name="Tab card 3"/>
          <p:cNvSpPr/>
          <p:nvPr/>
        </p:nvSpPr>
        <p:spPr>
          <a:xfrm>
            <a:off x="6035040" y="10972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ference CAD circle"/>
          <p:cNvSpPr/>
          <p:nvPr/>
        </p:nvSpPr>
        <p:spPr>
          <a:xfrm>
            <a:off x="6172200" y="12161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Reference CAD icon" descr="Reference C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30452"/>
            <a:ext cx="228600" cy="228600"/>
          </a:xfrm>
          <a:prstGeom prst="rect">
            <a:avLst/>
          </a:prstGeom>
        </p:spPr>
      </p:pic>
      <p:sp>
        <p:nvSpPr>
          <p:cNvPr id="16" name="Tab name 3"/>
          <p:cNvSpPr txBox="1"/>
          <p:nvPr/>
        </p:nvSpPr>
        <p:spPr>
          <a:xfrm>
            <a:off x="6720840" y="1216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Reference CAD</a:t>
            </a:r>
            <a:endParaRPr lang="en-US" sz="1500" dirty="0"/>
          </a:p>
        </p:txBody>
      </p:sp>
      <p:sp>
        <p:nvSpPr>
          <p:cNvPr id="17" name="Tab text 3"/>
          <p:cNvSpPr txBox="1"/>
          <p:nvPr/>
        </p:nvSpPr>
        <p:spPr>
          <a:xfrm>
            <a:off x="617220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Load STL or OBJ. Photo aligned to rendered CAD: holes, outline, wrong part, sizes in mm.</a:t>
            </a:r>
            <a:endParaRPr lang="en-US" sz="1150" dirty="0"/>
          </a:p>
        </p:txBody>
      </p:sp>
      <p:pic>
        <p:nvPicPr>
          <p:cNvPr id="18" name="App screenshots" descr="The three tabs in use: close-up type heat map, reference-image difference map, CAD overlay on a connecting ro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97480"/>
            <a:ext cx="4709160" cy="1865376"/>
          </a:xfrm>
          <a:prstGeom prst="rect">
            <a:avLst/>
          </a:prstGeom>
        </p:spPr>
      </p:pic>
      <p:sp>
        <p:nvSpPr>
          <p:cNvPr id="19" name="Remedies circle"/>
          <p:cNvSpPr/>
          <p:nvPr/>
        </p:nvSpPr>
        <p:spPr>
          <a:xfrm>
            <a:off x="5440680" y="2743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Remedies icon" descr="Remedi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2846070"/>
            <a:ext cx="205740" cy="205740"/>
          </a:xfrm>
          <a:prstGeom prst="rect">
            <a:avLst/>
          </a:prstGeom>
        </p:spPr>
      </p:pic>
      <p:sp>
        <p:nvSpPr>
          <p:cNvPr id="21" name="After reject"/>
          <p:cNvSpPr txBox="1"/>
          <p:nvPr/>
        </p:nvSpPr>
        <p:spPr>
          <a:xfrm>
            <a:off x="5943600" y="2697480"/>
            <a:ext cx="2743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After every reject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Remedies card: how to confirm, likely causes, process fixes, what to do with the part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PDF report with an action-plan page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CSV log of every inspection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Accurate on held-out data, fast on an ordinary phone CPU</a:t>
            </a:r>
            <a:endParaRPr lang="en-US" sz="2400" dirty="0"/>
          </a:p>
        </p:txBody>
      </p:sp>
      <p:sp>
        <p:nvSpPr>
          <p:cNvPr id="3" name="Result card 1"/>
          <p:cNvSpPr/>
          <p:nvPr/>
        </p:nvSpPr>
        <p:spPr>
          <a:xfrm>
            <a:off x="457200" y="114300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Result 1"/>
          <p:cNvSpPr txBox="1"/>
          <p:nvPr/>
        </p:nvSpPr>
        <p:spPr>
          <a:xfrm>
            <a:off x="594360" y="1298448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99.7%</a:t>
            </a:r>
            <a:endParaRPr lang="en-US" sz="30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whole-part accuracy</a:t>
            </a:r>
            <a:endParaRPr lang="en-US" sz="30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715 Kaggle test photos</a:t>
            </a:r>
            <a:endParaRPr lang="en-US" sz="3000" dirty="0"/>
          </a:p>
        </p:txBody>
      </p:sp>
      <p:sp>
        <p:nvSpPr>
          <p:cNvPr id="5" name="Result card 2"/>
          <p:cNvSpPr/>
          <p:nvPr/>
        </p:nvSpPr>
        <p:spPr>
          <a:xfrm>
            <a:off x="2560320" y="114300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" name="Result 2"/>
          <p:cNvSpPr txBox="1"/>
          <p:nvPr/>
        </p:nvSpPr>
        <p:spPr>
          <a:xfrm>
            <a:off x="2697480" y="1298448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90.4%</a:t>
            </a:r>
            <a:endParaRPr lang="en-US" sz="30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close-up defect-type accuracy</a:t>
            </a:r>
            <a:endParaRPr lang="en-US" sz="30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1,534 held-out crops; 0.6% of defects missed</a:t>
            </a:r>
            <a:endParaRPr lang="en-US" sz="3000" dirty="0"/>
          </a:p>
        </p:txBody>
      </p:sp>
      <p:sp>
        <p:nvSpPr>
          <p:cNvPr id="7" name="Result card 3"/>
          <p:cNvSpPr/>
          <p:nvPr/>
        </p:nvSpPr>
        <p:spPr>
          <a:xfrm>
            <a:off x="4663440" y="114300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Result 3"/>
          <p:cNvSpPr txBox="1"/>
          <p:nvPr/>
        </p:nvSpPr>
        <p:spPr>
          <a:xfrm>
            <a:off x="4800600" y="1298448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139/139</a:t>
            </a:r>
            <a:endParaRPr lang="en-US" sz="30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CAD findings typed correctly</a:t>
            </a:r>
            <a:endParaRPr lang="en-US" sz="30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validation defects on 4 parts</a:t>
            </a:r>
            <a:endParaRPr lang="en-US" sz="3000" dirty="0"/>
          </a:p>
        </p:txBody>
      </p:sp>
      <p:sp>
        <p:nvSpPr>
          <p:cNvPr id="9" name="Result card 4"/>
          <p:cNvSpPr/>
          <p:nvPr/>
        </p:nvSpPr>
        <p:spPr>
          <a:xfrm>
            <a:off x="6766560" y="114300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Result 4"/>
          <p:cNvSpPr txBox="1"/>
          <p:nvPr/>
        </p:nvSpPr>
        <p:spPr>
          <a:xfrm>
            <a:off x="6903720" y="1298448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0.15–1 s</a:t>
            </a:r>
            <a:endParaRPr lang="en-US" sz="30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per photo on the device</a:t>
            </a:r>
            <a:endParaRPr lang="en-US" sz="3000" dirty="0"/>
          </a:p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no GPU, no server</a:t>
            </a:r>
            <a:endParaRPr lang="en-US" sz="3000" dirty="0"/>
          </a:p>
        </p:txBody>
      </p:sp>
      <p:sp>
        <p:nvSpPr>
          <p:cNvPr id="11" name="Next steps circle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Next steps icon" descr="Next ste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131820"/>
            <a:ext cx="228600" cy="228600"/>
          </a:xfrm>
          <a:prstGeom prst="rect">
            <a:avLst/>
          </a:prstGeom>
        </p:spPr>
      </p:pic>
      <p:sp>
        <p:nvSpPr>
          <p:cNvPr id="13" name="Next steps"/>
          <p:cNvSpPr txBox="1"/>
          <p:nvPr/>
        </p:nvSpPr>
        <p:spPr>
          <a:xfrm>
            <a:off x="1051560" y="2971800"/>
            <a:ext cx="7589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Next steps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Retrain the close-up model with 20 to 30 of a partner foundry's own close-ups per type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Printed scale marker so the CAD tab measures absolute size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</a:rPr>
              <a:t>Fixed station with a ring light for repeatable photos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t Inspector">
  <a:themeElements>
    <a:clrScheme name="Cast Inspector">
      <a:dk1>
        <a:srgbClr val="1B1013"/>
      </a:dk1>
      <a:lt1>
        <a:srgbClr val="FFFFFF"/>
      </a:lt1>
      <a:dk2>
        <a:srgbClr val="4A1520"/>
      </a:dk2>
      <a:lt2>
        <a:srgbClr val="F6EFF1"/>
      </a:lt2>
      <a:accent1>
        <a:srgbClr val="9E2A3E"/>
      </a:accent1>
      <a:accent2>
        <a:srgbClr val="E58A99"/>
      </a:accent2>
      <a:accent3>
        <a:srgbClr val="2E8B57"/>
      </a:accent3>
      <a:accent4>
        <a:srgbClr val="C98A2B"/>
      </a:accent4>
      <a:accent5>
        <a:srgbClr val="6E6466"/>
      </a:accent5>
      <a:accent6>
        <a:srgbClr val="3B2A30"/>
      </a:accent6>
      <a:hlink>
        <a:srgbClr val="9E2A3E"/>
      </a:hlink>
      <a:folHlink>
        <a:srgbClr val="4A1520"/>
      </a:folHlink>
    </a:clrScheme>
    <a:fontScheme name="Cast Inspec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Cast Defect Inspection</dc:title>
  <dc:subject>PptxGenJS Presentation</dc:subject>
  <dc:creator>Team 4</dc:creator>
  <cp:lastModifiedBy>Team 4</cp:lastModifiedBy>
  <cp:revision>1</cp:revision>
  <dcterms:created xsi:type="dcterms:W3CDTF">2026-10-20T16:15:55Z</dcterms:created>
  <dcterms:modified xsi:type="dcterms:W3CDTF">2026-10-20T16:15:55Z</dcterms:modified>
</cp:coreProperties>
</file>